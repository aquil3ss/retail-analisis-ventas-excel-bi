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8" d="100"/>
          <a:sy n="48" d="100"/>
        </p:scale>
        <p:origin x="36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3_Grupo10-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3_Grupo10-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ltControl\Downloads\Semana3_Grupo10-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[Semana3_Grupo10-1.xlsx]Graficos!TablaDinámica17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4400" b="1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400" i="1"/>
              <a:t>Ventas por método de pago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1" i="1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"/>
        <c:spPr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"/>
        <c:spPr>
          <a:solidFill>
            <a:srgbClr val="FF0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4"/>
        <c:spPr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solidFill>
            <a:srgbClr val="7030A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solidFill>
            <a:srgbClr val="FFC00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7"/>
        <c:spPr>
          <a:solidFill>
            <a:srgbClr val="00206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8"/>
        <c:spPr>
          <a:solidFill>
            <a:schemeClr val="bg1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Graficos!$B$128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Graficos!$A$129:$A$136</c:f>
              <c:strCache>
                <c:ptCount val="7"/>
                <c:pt idx="0">
                  <c:v>Apple Pay</c:v>
                </c:pt>
                <c:pt idx="1">
                  <c:v>Cash</c:v>
                </c:pt>
                <c:pt idx="2">
                  <c:v>Credit Card</c:v>
                </c:pt>
                <c:pt idx="3">
                  <c:v>Debit Card</c:v>
                </c:pt>
                <c:pt idx="4">
                  <c:v>Gift Card</c:v>
                </c:pt>
                <c:pt idx="5">
                  <c:v>Google Pay</c:v>
                </c:pt>
                <c:pt idx="6">
                  <c:v>PayPal</c:v>
                </c:pt>
              </c:strCache>
            </c:strRef>
          </c:cat>
          <c:val>
            <c:numRef>
              <c:f>Graficos!$B$129:$B$136</c:f>
              <c:numCache>
                <c:formatCode>"$"#,##0;[Red]"$"#,##0</c:formatCode>
                <c:ptCount val="7"/>
                <c:pt idx="0">
                  <c:v>431970.78058457182</c:v>
                </c:pt>
                <c:pt idx="1">
                  <c:v>87141.467256135933</c:v>
                </c:pt>
                <c:pt idx="2">
                  <c:v>1017017.5210204186</c:v>
                </c:pt>
                <c:pt idx="3">
                  <c:v>448397.76434927946</c:v>
                </c:pt>
                <c:pt idx="4">
                  <c:v>59985.833803906891</c:v>
                </c:pt>
                <c:pt idx="5">
                  <c:v>44523.119615681717</c:v>
                </c:pt>
                <c:pt idx="6">
                  <c:v>468020.53533565125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CD-4D0B-BB05-834A98D87B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37343343"/>
        <c:axId val="337345263"/>
      </c:barChart>
      <c:catAx>
        <c:axId val="3373433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000" b="0" i="1" dirty="0">
                    <a:solidFill>
                      <a:schemeClr val="tx1"/>
                    </a:solidFill>
                  </a:rPr>
                  <a:t>Métodos</a:t>
                </a:r>
                <a:r>
                  <a:rPr lang="es-EC" sz="2000" b="0" i="1" baseline="0" dirty="0">
                    <a:solidFill>
                      <a:schemeClr val="tx1"/>
                    </a:solidFill>
                  </a:rPr>
                  <a:t> de pago </a:t>
                </a:r>
                <a:endParaRPr lang="es-EC" sz="2000" b="0" i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6403040877964891"/>
              <c:y val="0.945005043003193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337345263"/>
        <c:crosses val="autoZero"/>
        <c:auto val="1"/>
        <c:lblAlgn val="ctr"/>
        <c:lblOffset val="100"/>
        <c:noMultiLvlLbl val="0"/>
      </c:catAx>
      <c:valAx>
        <c:axId val="3373452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400" i="1" dirty="0">
                    <a:solidFill>
                      <a:schemeClr val="tx1"/>
                    </a:solidFill>
                  </a:rPr>
                  <a:t>Ventas en</a:t>
                </a:r>
                <a:r>
                  <a:rPr lang="es-EC" sz="2400" i="1" baseline="0" dirty="0">
                    <a:solidFill>
                      <a:schemeClr val="tx1"/>
                    </a:solidFill>
                  </a:rPr>
                  <a:t> millones</a:t>
                </a:r>
                <a:r>
                  <a:rPr lang="es-EC" sz="2400" i="1" dirty="0">
                    <a:solidFill>
                      <a:schemeClr val="tx1"/>
                    </a:solidFill>
                  </a:rPr>
                  <a:t>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&quot;$&quot;#,##0;[Red]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337343343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[Semana3_Grupo10-1.xlsx]Graficos!TablaDinámica5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1" i="1" u="none" strike="noStrike" kern="1200" cap="none" spc="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j-lt"/>
                <a:ea typeface="+mj-ea"/>
                <a:cs typeface="+mj-cs"/>
              </a:defRPr>
            </a:pPr>
            <a:r>
              <a:rPr lang="en-US" sz="5400" b="1" i="1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ROI promedio por campaña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5400" b="1" i="1" u="none" strike="noStrike" kern="1200" cap="none" spc="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j-lt"/>
              <a:ea typeface="+mj-ea"/>
              <a:cs typeface="+mj-cs"/>
            </a:defRPr>
          </a:pPr>
          <a:endParaRPr lang="es-EC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8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3274593405082017E-2"/>
          <c:y val="8.7286145830272666E-2"/>
          <c:w val="0.76014521656408673"/>
          <c:h val="0.8360924640775836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Graficos!$B$25:$B$26</c:f>
              <c:strCache>
                <c:ptCount val="1"/>
                <c:pt idx="0">
                  <c:v>Email Marketing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Graficos!$B$27</c:f>
              <c:numCache>
                <c:formatCode>"$"#,##0.00</c:formatCode>
                <c:ptCount val="1"/>
                <c:pt idx="0">
                  <c:v>258010.13333333333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B4-49BF-AE1B-734A5E0FFF85}"/>
            </c:ext>
          </c:extLst>
        </c:ser>
        <c:ser>
          <c:idx val="1"/>
          <c:order val="1"/>
          <c:tx>
            <c:strRef>
              <c:f>Graficos!$C$25:$C$26</c:f>
              <c:strCache>
                <c:ptCount val="1"/>
                <c:pt idx="0">
                  <c:v>Influencer Marketing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Graficos!$C$27</c:f>
              <c:numCache>
                <c:formatCode>"$"#,##0.00</c:formatCode>
                <c:ptCount val="1"/>
                <c:pt idx="0">
                  <c:v>27327.428571428572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B4-49BF-AE1B-734A5E0FFF85}"/>
            </c:ext>
          </c:extLst>
        </c:ser>
        <c:ser>
          <c:idx val="2"/>
          <c:order val="2"/>
          <c:tx>
            <c:strRef>
              <c:f>Graficos!$D$25:$D$26</c:f>
              <c:strCache>
                <c:ptCount val="1"/>
                <c:pt idx="0">
                  <c:v>In-Store Promotion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Graficos!$D$27</c:f>
              <c:numCache>
                <c:formatCode>"$"#,##0.00</c:formatCode>
                <c:ptCount val="1"/>
                <c:pt idx="0">
                  <c:v>243174.05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B4-49BF-AE1B-734A5E0FFF85}"/>
            </c:ext>
          </c:extLst>
        </c:ser>
        <c:ser>
          <c:idx val="3"/>
          <c:order val="3"/>
          <c:tx>
            <c:strRef>
              <c:f>Graficos!$E$25:$E$26</c:f>
              <c:strCache>
                <c:ptCount val="1"/>
                <c:pt idx="0">
                  <c:v>Online Display Ads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Graficos!$E$27</c:f>
              <c:numCache>
                <c:formatCode>"$"#,##0.00</c:formatCode>
                <c:ptCount val="1"/>
                <c:pt idx="0">
                  <c:v>34122.5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7B4-49BF-AE1B-734A5E0FFF85}"/>
            </c:ext>
          </c:extLst>
        </c:ser>
        <c:ser>
          <c:idx val="4"/>
          <c:order val="4"/>
          <c:tx>
            <c:strRef>
              <c:f>Graficos!$F$25:$F$26</c:f>
              <c:strCache>
                <c:ptCount val="1"/>
                <c:pt idx="0">
                  <c:v>Print Advertisement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Graficos!$F$27</c:f>
              <c:numCache>
                <c:formatCode>"$"#,##0.00</c:formatCode>
                <c:ptCount val="1"/>
                <c:pt idx="0">
                  <c:v>13711.04347826087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B4-49BF-AE1B-734A5E0FFF85}"/>
            </c:ext>
          </c:extLst>
        </c:ser>
        <c:ser>
          <c:idx val="5"/>
          <c:order val="5"/>
          <c:tx>
            <c:strRef>
              <c:f>Graficos!$G$25:$G$26</c:f>
              <c:strCache>
                <c:ptCount val="1"/>
                <c:pt idx="0">
                  <c:v>Radio Advertisement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Graficos!$G$27</c:f>
              <c:numCache>
                <c:formatCode>"$"#,##0.00</c:formatCode>
                <c:ptCount val="1"/>
                <c:pt idx="0">
                  <c:v>32464.956521739132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7B4-49BF-AE1B-734A5E0FFF85}"/>
            </c:ext>
          </c:extLst>
        </c:ser>
        <c:ser>
          <c:idx val="6"/>
          <c:order val="6"/>
          <c:tx>
            <c:strRef>
              <c:f>Graficos!$H$25:$H$26</c:f>
              <c:strCache>
                <c:ptCount val="1"/>
                <c:pt idx="0">
                  <c:v>Search Engine Marketing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Graficos!$H$27</c:f>
              <c:numCache>
                <c:formatCode>"$"#,##0.00</c:formatCode>
                <c:ptCount val="1"/>
                <c:pt idx="0">
                  <c:v>753787.84210526315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B4-49BF-AE1B-734A5E0FFF85}"/>
            </c:ext>
          </c:extLst>
        </c:ser>
        <c:ser>
          <c:idx val="7"/>
          <c:order val="7"/>
          <c:tx>
            <c:strRef>
              <c:f>Graficos!$I$25:$I$26</c:f>
              <c:strCache>
                <c:ptCount val="1"/>
                <c:pt idx="0">
                  <c:v>SMS Marketing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Graficos!$I$27</c:f>
              <c:numCache>
                <c:formatCode>"$"#,##0.00</c:formatCode>
                <c:ptCount val="1"/>
                <c:pt idx="0">
                  <c:v>10091.117647058823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7B4-49BF-AE1B-734A5E0FFF85}"/>
            </c:ext>
          </c:extLst>
        </c:ser>
        <c:ser>
          <c:idx val="8"/>
          <c:order val="8"/>
          <c:tx>
            <c:strRef>
              <c:f>Graficos!$J$25:$J$26</c:f>
              <c:strCache>
                <c:ptCount val="1"/>
                <c:pt idx="0">
                  <c:v>Social Media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Graficos!$J$27</c:f>
              <c:numCache>
                <c:formatCode>"$"#,##0.00</c:formatCode>
                <c:ptCount val="1"/>
                <c:pt idx="0">
                  <c:v>33024.666666666664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7B4-49BF-AE1B-734A5E0FFF85}"/>
            </c:ext>
          </c:extLst>
        </c:ser>
        <c:ser>
          <c:idx val="9"/>
          <c:order val="9"/>
          <c:tx>
            <c:strRef>
              <c:f>Graficos!$K$25:$K$26</c:f>
              <c:strCache>
                <c:ptCount val="1"/>
                <c:pt idx="0">
                  <c:v>TV Advertisement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Graficos!$A$27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Graficos!$K$27</c:f>
              <c:numCache>
                <c:formatCode>"$"#,##0.00</c:formatCode>
                <c:ptCount val="1"/>
                <c:pt idx="0">
                  <c:v>21421.235294117647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7B4-49BF-AE1B-734A5E0FFF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axId val="241884111"/>
        <c:axId val="241884591"/>
      </c:barChart>
      <c:catAx>
        <c:axId val="24188411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1" i="1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000" b="1" i="1">
                    <a:solidFill>
                      <a:schemeClr val="tx1"/>
                    </a:solidFill>
                  </a:rPr>
                  <a:t>TIPO CAMPAÑA</a:t>
                </a:r>
              </a:p>
            </c:rich>
          </c:tx>
          <c:layout>
            <c:manualLayout>
              <c:xMode val="edge"/>
              <c:yMode val="edge"/>
              <c:x val="1.3964831649262727E-2"/>
              <c:y val="0.415251123270608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1" i="1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out"/>
        <c:minorTickMark val="none"/>
        <c:tickLblPos val="nextTo"/>
        <c:crossAx val="241884591"/>
        <c:crosses val="autoZero"/>
        <c:auto val="1"/>
        <c:lblAlgn val="ctr"/>
        <c:lblOffset val="100"/>
        <c:noMultiLvlLbl val="0"/>
      </c:catAx>
      <c:valAx>
        <c:axId val="241884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1" u="none" strike="noStrike" kern="1200" cap="all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000" b="1" i="1" dirty="0" err="1">
                    <a:solidFill>
                      <a:schemeClr val="tx1"/>
                    </a:solidFill>
                  </a:rPr>
                  <a:t>roi</a:t>
                </a:r>
                <a:r>
                  <a:rPr lang="es-EC" sz="2000" b="1" i="1" baseline="0" dirty="0">
                    <a:solidFill>
                      <a:schemeClr val="tx1"/>
                    </a:solidFill>
                  </a:rPr>
                  <a:t> promedio </a:t>
                </a:r>
                <a:endParaRPr lang="es-EC" sz="2000" b="1" i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44503203475111469"/>
              <c:y val="0.9681779661016949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1" u="none" strike="noStrike" kern="1200" cap="all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&quot;$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241884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2945873305138162"/>
          <c:y val="0.32166110592108188"/>
          <c:w val="0.1676300587972355"/>
          <c:h val="0.42614106499399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[Semana3_Grupo10-1.xlsx]Graficos!TablaDinámica20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4400" b="0" i="1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 sz="4400" b="1" i="1" u="none"/>
              <a:t>RATINGS</a:t>
            </a:r>
            <a:r>
              <a:rPr lang="es-EC" sz="4400" b="1" i="1" u="none" baseline="0"/>
              <a:t> </a:t>
            </a:r>
            <a:r>
              <a:rPr lang="es-EC" sz="4400" b="1" i="1" u="none"/>
              <a:t>PROMEDIO</a:t>
            </a:r>
            <a:r>
              <a:rPr lang="es-EC" sz="4400" b="1" i="1" u="none" baseline="0"/>
              <a:t> </a:t>
            </a:r>
            <a:r>
              <a:rPr lang="es-EC" sz="4400" b="1" i="1" u="none"/>
              <a:t>POR</a:t>
            </a:r>
            <a:r>
              <a:rPr lang="es-EC" sz="4400" b="1" i="1" u="none" baseline="0"/>
              <a:t> </a:t>
            </a:r>
            <a:r>
              <a:rPr lang="es-EC" sz="4400" b="1" i="1" u="none"/>
              <a:t>CATEGORÍA</a:t>
            </a:r>
          </a:p>
        </c:rich>
      </c:tx>
      <c:layout>
        <c:manualLayout>
          <c:xMode val="edge"/>
          <c:yMode val="edge"/>
          <c:x val="0.28009697339356343"/>
          <c:y val="3.56485085803061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4400" b="0" i="1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0000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rgbClr val="FF0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Graficos!$C$166:$C$167</c:f>
              <c:strCache>
                <c:ptCount val="1"/>
                <c:pt idx="0">
                  <c:v>Audio Equipment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EC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B6F2-4BBE-91F0-63BE035BCA4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Graficos!$C$168</c:f>
              <c:numCache>
                <c:formatCode>0.00</c:formatCode>
                <c:ptCount val="1"/>
                <c:pt idx="0">
                  <c:v>4.0196078431372548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2-4BBE-91F0-63BE035BCA47}"/>
            </c:ext>
          </c:extLst>
        </c:ser>
        <c:ser>
          <c:idx val="1"/>
          <c:order val="1"/>
          <c:tx>
            <c:strRef>
              <c:f>Graficos!$D$166:$D$167</c:f>
              <c:strCache>
                <c:ptCount val="1"/>
                <c:pt idx="0">
                  <c:v>Bedding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Graficos!$D$168</c:f>
              <c:numCache>
                <c:formatCode>0.00</c:formatCode>
                <c:ptCount val="1"/>
                <c:pt idx="0">
                  <c:v>3.9473684210526314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2-4BBE-91F0-63BE035BCA47}"/>
            </c:ext>
          </c:extLst>
        </c:ser>
        <c:ser>
          <c:idx val="2"/>
          <c:order val="2"/>
          <c:tx>
            <c:strRef>
              <c:f>Graficos!$E$166:$E$167</c:f>
              <c:strCache>
                <c:ptCount val="1"/>
                <c:pt idx="0">
                  <c:v>Computer Accessories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Graficos!$E$168</c:f>
              <c:numCache>
                <c:formatCode>0.00</c:formatCode>
                <c:ptCount val="1"/>
                <c:pt idx="0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F2-4BBE-91F0-63BE035BCA47}"/>
            </c:ext>
          </c:extLst>
        </c:ser>
        <c:ser>
          <c:idx val="3"/>
          <c:order val="3"/>
          <c:tx>
            <c:strRef>
              <c:f>Graficos!$F$166:$F$167</c:f>
              <c:strCache>
                <c:ptCount val="1"/>
                <c:pt idx="0">
                  <c:v>Cookware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Graficos!$F$168</c:f>
              <c:numCache>
                <c:formatCode>0.00</c:formatCode>
                <c:ptCount val="1"/>
                <c:pt idx="0">
                  <c:v>3.9166666666666665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F2-4BBE-91F0-63BE035BCA47}"/>
            </c:ext>
          </c:extLst>
        </c:ser>
        <c:ser>
          <c:idx val="4"/>
          <c:order val="4"/>
          <c:tx>
            <c:strRef>
              <c:f>Graficos!$G$166:$G$167</c:f>
              <c:strCache>
                <c:ptCount val="1"/>
                <c:pt idx="0">
                  <c:v>Desktop Computers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Graficos!$G$168</c:f>
              <c:numCache>
                <c:formatCode>0.00</c:formatCode>
                <c:ptCount val="1"/>
                <c:pt idx="0">
                  <c:v>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F2-4BBE-91F0-63BE035BCA47}"/>
            </c:ext>
          </c:extLst>
        </c:ser>
        <c:ser>
          <c:idx val="5"/>
          <c:order val="5"/>
          <c:tx>
            <c:strRef>
              <c:f>Graficos!$H$166:$H$167</c:f>
              <c:strCache>
                <c:ptCount val="1"/>
                <c:pt idx="0">
                  <c:v>Furniture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Graficos!$H$168</c:f>
              <c:numCache>
                <c:formatCode>0.00</c:formatCode>
                <c:ptCount val="1"/>
                <c:pt idx="0">
                  <c:v>3.9838709677419355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6F2-4BBE-91F0-63BE035BCA47}"/>
            </c:ext>
          </c:extLst>
        </c:ser>
        <c:ser>
          <c:idx val="6"/>
          <c:order val="6"/>
          <c:tx>
            <c:strRef>
              <c:f>Graficos!$I$166:$I$167</c:f>
              <c:strCache>
                <c:ptCount val="1"/>
                <c:pt idx="0">
                  <c:v>Gaming Consoles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Graficos!$I$168</c:f>
              <c:numCache>
                <c:formatCode>0.00</c:formatCode>
                <c:ptCount val="1"/>
                <c:pt idx="0">
                  <c:v>4.0147058823529411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6F2-4BBE-91F0-63BE035BCA47}"/>
            </c:ext>
          </c:extLst>
        </c:ser>
        <c:ser>
          <c:idx val="7"/>
          <c:order val="7"/>
          <c:tx>
            <c:strRef>
              <c:f>Graficos!$J$166:$J$167</c:f>
              <c:strCache>
                <c:ptCount val="1"/>
                <c:pt idx="0">
                  <c:v>Home Decor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Graficos!$J$168</c:f>
              <c:numCache>
                <c:formatCode>0.00</c:formatCode>
                <c:ptCount val="1"/>
                <c:pt idx="0">
                  <c:v>4.0957446808510642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6F2-4BBE-91F0-63BE035BCA47}"/>
            </c:ext>
          </c:extLst>
        </c:ser>
        <c:ser>
          <c:idx val="8"/>
          <c:order val="8"/>
          <c:tx>
            <c:strRef>
              <c:f>Graficos!$K$166:$K$167</c:f>
              <c:strCache>
                <c:ptCount val="1"/>
                <c:pt idx="0">
                  <c:v>Kitchen Appliances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Graficos!$K$168</c:f>
              <c:numCache>
                <c:formatCode>0.00</c:formatCode>
                <c:ptCount val="1"/>
                <c:pt idx="0">
                  <c:v>4.0880000000000001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6F2-4BBE-91F0-63BE035BCA47}"/>
            </c:ext>
          </c:extLst>
        </c:ser>
        <c:ser>
          <c:idx val="9"/>
          <c:order val="9"/>
          <c:tx>
            <c:strRef>
              <c:f>Graficos!$L$166:$L$167</c:f>
              <c:strCache>
                <c:ptCount val="1"/>
                <c:pt idx="0">
                  <c:v>Laptops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Graficos!$L$168</c:f>
              <c:numCache>
                <c:formatCode>0.00</c:formatCode>
                <c:ptCount val="1"/>
                <c:pt idx="0">
                  <c:v>3.9666666666666668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6F2-4BBE-91F0-63BE035BCA47}"/>
            </c:ext>
          </c:extLst>
        </c:ser>
        <c:ser>
          <c:idx val="10"/>
          <c:order val="10"/>
          <c:tx>
            <c:strRef>
              <c:f>Graficos!$M$166:$M$167</c:f>
              <c:strCache>
                <c:ptCount val="1"/>
                <c:pt idx="0">
                  <c:v>Small Kitchen Appliances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Graficos!$M$168</c:f>
              <c:numCache>
                <c:formatCode>0.00</c:formatCode>
                <c:ptCount val="1"/>
                <c:pt idx="0">
                  <c:v>3.810810810810811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6F2-4BBE-91F0-63BE035BCA47}"/>
            </c:ext>
          </c:extLst>
        </c:ser>
        <c:ser>
          <c:idx val="11"/>
          <c:order val="11"/>
          <c:tx>
            <c:strRef>
              <c:f>Graficos!$N$166:$N$167</c:f>
              <c:strCache>
                <c:ptCount val="1"/>
                <c:pt idx="0">
                  <c:v>Smart Home Devices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Graficos!$N$168</c:f>
              <c:numCache>
                <c:formatCode>0.00</c:formatCode>
                <c:ptCount val="1"/>
                <c:pt idx="0">
                  <c:v>4.0894308943089435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6F2-4BBE-91F0-63BE035BCA47}"/>
            </c:ext>
          </c:extLst>
        </c:ser>
        <c:ser>
          <c:idx val="12"/>
          <c:order val="12"/>
          <c:tx>
            <c:strRef>
              <c:f>Graficos!$O$166:$O$167</c:f>
              <c:strCache>
                <c:ptCount val="1"/>
                <c:pt idx="0">
                  <c:v>Smartphones</c:v>
                </c:pt>
              </c:strCache>
            </c:strRef>
          </c:tx>
          <c:spPr>
            <a:solidFill>
              <a:schemeClr val="accent1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Graficos!$O$168</c:f>
              <c:numCache>
                <c:formatCode>0.00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6F2-4BBE-91F0-63BE035BCA47}"/>
            </c:ext>
          </c:extLst>
        </c:ser>
        <c:ser>
          <c:idx val="13"/>
          <c:order val="13"/>
          <c:tx>
            <c:strRef>
              <c:f>Graficos!$P$166:$P$167</c:f>
              <c:strCache>
                <c:ptCount val="1"/>
                <c:pt idx="0">
                  <c:v>Tablets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Graficos!$P$168</c:f>
              <c:numCache>
                <c:formatCode>0.00</c:formatCode>
                <c:ptCount val="1"/>
                <c:pt idx="0">
                  <c:v>4.4705882352941178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B6F2-4BBE-91F0-63BE035BCA47}"/>
            </c:ext>
          </c:extLst>
        </c:ser>
        <c:ser>
          <c:idx val="14"/>
          <c:order val="14"/>
          <c:tx>
            <c:strRef>
              <c:f>Graficos!$Q$166:$Q$167</c:f>
              <c:strCache>
                <c:ptCount val="1"/>
                <c:pt idx="0">
                  <c:v>TVs</c:v>
                </c:pt>
              </c:strCache>
            </c:strRef>
          </c:tx>
          <c:spPr>
            <a:solidFill>
              <a:schemeClr val="accent3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C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Graficos!$B$168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Graficos!$Q$168</c:f>
              <c:numCache>
                <c:formatCode>0.00</c:formatCode>
                <c:ptCount val="1"/>
                <c:pt idx="0">
                  <c:v>4.1568627450980395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6F2-4BBE-91F0-63BE035BC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95632111"/>
        <c:axId val="1095632591"/>
      </c:barChart>
      <c:catAx>
        <c:axId val="109563211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1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000" b="1" i="1" u="none" strike="noStrike" baseline="0">
                    <a:solidFill>
                      <a:schemeClr val="tx1"/>
                    </a:solidFill>
                    <a:effectLst/>
                  </a:rPr>
                  <a:t>RATINGS PROMEDIO </a:t>
                </a:r>
                <a:endParaRPr lang="es-EC" sz="2000" i="1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0.39505835814066953"/>
              <c:y val="0.958580457667621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1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General" sourceLinked="1"/>
        <c:majorTickMark val="none"/>
        <c:minorTickMark val="none"/>
        <c:tickLblPos val="nextTo"/>
        <c:crossAx val="1095632591"/>
        <c:crosses val="autoZero"/>
        <c:auto val="1"/>
        <c:lblAlgn val="ctr"/>
        <c:lblOffset val="100"/>
        <c:noMultiLvlLbl val="0"/>
      </c:catAx>
      <c:valAx>
        <c:axId val="1095632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EC" sz="2000" b="1" i="1" dirty="0">
                    <a:solidFill>
                      <a:schemeClr val="tx1"/>
                    </a:solidFill>
                  </a:rPr>
                  <a:t>CATEGORÍAS</a:t>
                </a:r>
                <a:endParaRPr lang="es-EC" sz="1050" b="1" i="1" dirty="0">
                  <a:solidFill>
                    <a:schemeClr val="tx1"/>
                  </a:solidFill>
                </a:endParaRPr>
              </a:p>
            </c:rich>
          </c:tx>
          <c:layout>
            <c:manualLayout>
              <c:xMode val="edge"/>
              <c:yMode val="edge"/>
              <c:x val="3.0593255620441763E-3"/>
              <c:y val="0.432442461620678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C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095632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C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50" b="0" i="0">
                <a:solidFill>
                  <a:srgbClr val="2521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rgbClr val="252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0" i="0">
                <a:solidFill>
                  <a:srgbClr val="2521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rgbClr val="252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0" i="0">
                <a:solidFill>
                  <a:srgbClr val="2521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" y="0"/>
            <a:ext cx="18288000" cy="727710"/>
          </a:xfrm>
          <a:custGeom>
            <a:avLst/>
            <a:gdLst/>
            <a:ahLst/>
            <a:cxnLst/>
            <a:rect l="l" t="t" r="r" b="b"/>
            <a:pathLst>
              <a:path w="18288000" h="727710">
                <a:moveTo>
                  <a:pt x="0" y="727384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727384"/>
                </a:lnTo>
                <a:lnTo>
                  <a:pt x="0" y="727384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029328" y="0"/>
            <a:ext cx="1259205" cy="1259205"/>
          </a:xfrm>
          <a:custGeom>
            <a:avLst/>
            <a:gdLst/>
            <a:ahLst/>
            <a:cxnLst/>
            <a:rect l="l" t="t" r="r" b="b"/>
            <a:pathLst>
              <a:path w="1259205" h="1259205">
                <a:moveTo>
                  <a:pt x="1258670" y="1258670"/>
                </a:moveTo>
                <a:lnTo>
                  <a:pt x="1258670" y="0"/>
                </a:lnTo>
                <a:lnTo>
                  <a:pt x="0" y="0"/>
                </a:lnTo>
                <a:lnTo>
                  <a:pt x="1258670" y="125867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142750" y="0"/>
            <a:ext cx="5083175" cy="3835400"/>
          </a:xfrm>
          <a:custGeom>
            <a:avLst/>
            <a:gdLst/>
            <a:ahLst/>
            <a:cxnLst/>
            <a:rect l="l" t="t" r="r" b="b"/>
            <a:pathLst>
              <a:path w="5083175" h="3835400">
                <a:moveTo>
                  <a:pt x="5082978" y="2586634"/>
                </a:moveTo>
                <a:lnTo>
                  <a:pt x="2496343" y="0"/>
                </a:lnTo>
                <a:lnTo>
                  <a:pt x="0" y="0"/>
                </a:lnTo>
                <a:lnTo>
                  <a:pt x="3834905" y="3834905"/>
                </a:lnTo>
                <a:lnTo>
                  <a:pt x="4896110" y="2773503"/>
                </a:lnTo>
                <a:lnTo>
                  <a:pt x="4938465" y="2731541"/>
                </a:lnTo>
                <a:lnTo>
                  <a:pt x="5082978" y="2586634"/>
                </a:lnTo>
                <a:close/>
              </a:path>
            </a:pathLst>
          </a:custGeom>
          <a:solidFill>
            <a:srgbClr val="1B74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903115" y="0"/>
            <a:ext cx="2385060" cy="3366770"/>
          </a:xfrm>
          <a:custGeom>
            <a:avLst/>
            <a:gdLst/>
            <a:ahLst/>
            <a:cxnLst/>
            <a:rect l="l" t="t" r="r" b="b"/>
            <a:pathLst>
              <a:path w="2385059" h="3366770">
                <a:moveTo>
                  <a:pt x="2384884" y="3366376"/>
                </a:moveTo>
                <a:lnTo>
                  <a:pt x="2384884" y="0"/>
                </a:lnTo>
                <a:lnTo>
                  <a:pt x="981688" y="0"/>
                </a:lnTo>
                <a:lnTo>
                  <a:pt x="0" y="981688"/>
                </a:lnTo>
                <a:lnTo>
                  <a:pt x="2384884" y="3366376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36038" y="11"/>
            <a:ext cx="2852420" cy="3023235"/>
          </a:xfrm>
          <a:custGeom>
            <a:avLst/>
            <a:gdLst/>
            <a:ahLst/>
            <a:cxnLst/>
            <a:rect l="l" t="t" r="r" b="b"/>
            <a:pathLst>
              <a:path w="2852419" h="3023235">
                <a:moveTo>
                  <a:pt x="2851950" y="2938221"/>
                </a:moveTo>
                <a:lnTo>
                  <a:pt x="42354" y="128524"/>
                </a:lnTo>
                <a:lnTo>
                  <a:pt x="0" y="170675"/>
                </a:lnTo>
                <a:lnTo>
                  <a:pt x="2851950" y="3022638"/>
                </a:lnTo>
                <a:lnTo>
                  <a:pt x="2851950" y="2938221"/>
                </a:lnTo>
                <a:close/>
              </a:path>
              <a:path w="2852419" h="3023235">
                <a:moveTo>
                  <a:pt x="2851950" y="511352"/>
                </a:moveTo>
                <a:lnTo>
                  <a:pt x="2340648" y="0"/>
                </a:lnTo>
                <a:lnTo>
                  <a:pt x="2256244" y="0"/>
                </a:lnTo>
                <a:lnTo>
                  <a:pt x="2851950" y="595706"/>
                </a:lnTo>
                <a:lnTo>
                  <a:pt x="2851950" y="511352"/>
                </a:lnTo>
                <a:close/>
              </a:path>
            </a:pathLst>
          </a:custGeom>
          <a:solidFill>
            <a:srgbClr val="F4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0" i="0">
                <a:solidFill>
                  <a:srgbClr val="2521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705592"/>
            <a:ext cx="13440410" cy="2159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50" b="0" i="0">
                <a:solidFill>
                  <a:srgbClr val="25216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22347" y="4190632"/>
            <a:ext cx="9566910" cy="5196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rgbClr val="25216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aulavirtual.espol.edu.ec/groups/159488/users/48925" TargetMode="External"/><Relationship Id="rId7" Type="http://schemas.openxmlformats.org/officeDocument/2006/relationships/hyperlink" Target="https://aulavirtual.espol.edu.ec/groups/159488/users/49069" TargetMode="External"/><Relationship Id="rId2" Type="http://schemas.openxmlformats.org/officeDocument/2006/relationships/hyperlink" Target="https://aulavirtual.espol.edu.ec/groups/159488/users/4901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ulavirtual.espol.edu.ec/groups/159488/users/49045" TargetMode="External"/><Relationship Id="rId5" Type="http://schemas.openxmlformats.org/officeDocument/2006/relationships/hyperlink" Target="https://aulavirtual.espol.edu.ec/groups/159488/users/48972" TargetMode="External"/><Relationship Id="rId4" Type="http://schemas.openxmlformats.org/officeDocument/2006/relationships/hyperlink" Target="https://aulavirtual.espol.edu.ec/groups/159488/users/4921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4838" y="9559635"/>
            <a:ext cx="14623415" cy="727710"/>
          </a:xfrm>
          <a:custGeom>
            <a:avLst/>
            <a:gdLst/>
            <a:ahLst/>
            <a:cxnLst/>
            <a:rect l="l" t="t" r="r" b="b"/>
            <a:pathLst>
              <a:path w="14623415" h="727709">
                <a:moveTo>
                  <a:pt x="14623160" y="727363"/>
                </a:moveTo>
                <a:lnTo>
                  <a:pt x="0" y="727363"/>
                </a:lnTo>
                <a:lnTo>
                  <a:pt x="0" y="0"/>
                </a:lnTo>
                <a:lnTo>
                  <a:pt x="14623160" y="0"/>
                </a:lnTo>
                <a:lnTo>
                  <a:pt x="14623160" y="727363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4672944" cy="727710"/>
          </a:xfrm>
          <a:custGeom>
            <a:avLst/>
            <a:gdLst/>
            <a:ahLst/>
            <a:cxnLst/>
            <a:rect l="l" t="t" r="r" b="b"/>
            <a:pathLst>
              <a:path w="14672944" h="727710">
                <a:moveTo>
                  <a:pt x="14672793" y="0"/>
                </a:moveTo>
                <a:lnTo>
                  <a:pt x="14672793" y="727363"/>
                </a:lnTo>
                <a:lnTo>
                  <a:pt x="0" y="727363"/>
                </a:lnTo>
                <a:lnTo>
                  <a:pt x="0" y="0"/>
                </a:lnTo>
                <a:lnTo>
                  <a:pt x="14672793" y="0"/>
                </a:lnTo>
                <a:close/>
              </a:path>
            </a:pathLst>
          </a:custGeom>
          <a:solidFill>
            <a:srgbClr val="252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87423" y="0"/>
            <a:ext cx="6600825" cy="5886450"/>
            <a:chOff x="11687423" y="0"/>
            <a:chExt cx="6600825" cy="5886450"/>
          </a:xfrm>
        </p:grpSpPr>
        <p:sp>
          <p:nvSpPr>
            <p:cNvPr id="5" name="object 5"/>
            <p:cNvSpPr/>
            <p:nvPr/>
          </p:nvSpPr>
          <p:spPr>
            <a:xfrm>
              <a:off x="11687417" y="0"/>
              <a:ext cx="6600825" cy="5485765"/>
            </a:xfrm>
            <a:custGeom>
              <a:avLst/>
              <a:gdLst/>
              <a:ahLst/>
              <a:cxnLst/>
              <a:rect l="l" t="t" r="r" b="b"/>
              <a:pathLst>
                <a:path w="6600825" h="5485765">
                  <a:moveTo>
                    <a:pt x="5982271" y="4986096"/>
                  </a:moveTo>
                  <a:lnTo>
                    <a:pt x="998131" y="0"/>
                  </a:lnTo>
                  <a:lnTo>
                    <a:pt x="0" y="0"/>
                  </a:lnTo>
                  <a:lnTo>
                    <a:pt x="5483212" y="5485358"/>
                  </a:lnTo>
                  <a:lnTo>
                    <a:pt x="5982271" y="4986096"/>
                  </a:lnTo>
                  <a:close/>
                </a:path>
                <a:path w="6600825" h="5485765">
                  <a:moveTo>
                    <a:pt x="6600584" y="0"/>
                  </a:moveTo>
                  <a:lnTo>
                    <a:pt x="4525226" y="0"/>
                  </a:lnTo>
                  <a:lnTo>
                    <a:pt x="6600584" y="2076170"/>
                  </a:lnTo>
                  <a:lnTo>
                    <a:pt x="6600584" y="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95538" y="0"/>
              <a:ext cx="3192780" cy="5886450"/>
            </a:xfrm>
            <a:custGeom>
              <a:avLst/>
              <a:gdLst/>
              <a:ahLst/>
              <a:cxnLst/>
              <a:rect l="l" t="t" r="r" b="b"/>
              <a:pathLst>
                <a:path w="3192780" h="5886450">
                  <a:moveTo>
                    <a:pt x="3192462" y="4271454"/>
                  </a:moveTo>
                  <a:lnTo>
                    <a:pt x="807199" y="1885213"/>
                  </a:lnTo>
                  <a:lnTo>
                    <a:pt x="0" y="2692730"/>
                  </a:lnTo>
                  <a:lnTo>
                    <a:pt x="3192462" y="5886424"/>
                  </a:lnTo>
                  <a:lnTo>
                    <a:pt x="3192462" y="4271454"/>
                  </a:lnTo>
                  <a:close/>
                </a:path>
                <a:path w="3192780" h="5886450">
                  <a:moveTo>
                    <a:pt x="3192462" y="1243253"/>
                  </a:moveTo>
                  <a:lnTo>
                    <a:pt x="1949691" y="0"/>
                  </a:lnTo>
                  <a:lnTo>
                    <a:pt x="335305" y="0"/>
                  </a:lnTo>
                  <a:lnTo>
                    <a:pt x="3192462" y="2858274"/>
                  </a:lnTo>
                  <a:lnTo>
                    <a:pt x="3192462" y="1243253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210924" y="0"/>
              <a:ext cx="4911725" cy="4105910"/>
            </a:xfrm>
            <a:custGeom>
              <a:avLst/>
              <a:gdLst/>
              <a:ahLst/>
              <a:cxnLst/>
              <a:rect l="l" t="t" r="r" b="b"/>
              <a:pathLst>
                <a:path w="4911725" h="4105910">
                  <a:moveTo>
                    <a:pt x="0" y="0"/>
                  </a:moveTo>
                  <a:lnTo>
                    <a:pt x="1614356" y="0"/>
                  </a:lnTo>
                  <a:lnTo>
                    <a:pt x="4911243" y="3298173"/>
                  </a:lnTo>
                  <a:lnTo>
                    <a:pt x="4104050" y="4105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380786" y="0"/>
              <a:ext cx="5011420" cy="3186430"/>
            </a:xfrm>
            <a:custGeom>
              <a:avLst/>
              <a:gdLst/>
              <a:ahLst/>
              <a:cxnLst/>
              <a:rect l="l" t="t" r="r" b="b"/>
              <a:pathLst>
                <a:path w="5011419" h="3186430">
                  <a:moveTo>
                    <a:pt x="1530934" y="1437690"/>
                  </a:moveTo>
                  <a:lnTo>
                    <a:pt x="93256" y="12"/>
                  </a:lnTo>
                  <a:lnTo>
                    <a:pt x="0" y="12"/>
                  </a:lnTo>
                  <a:lnTo>
                    <a:pt x="1484312" y="1484312"/>
                  </a:lnTo>
                  <a:lnTo>
                    <a:pt x="1530934" y="1437690"/>
                  </a:lnTo>
                  <a:close/>
                </a:path>
                <a:path w="5011419" h="3186430">
                  <a:moveTo>
                    <a:pt x="5011064" y="3139249"/>
                  </a:moveTo>
                  <a:lnTo>
                    <a:pt x="1871814" y="0"/>
                  </a:lnTo>
                  <a:lnTo>
                    <a:pt x="1778546" y="0"/>
                  </a:lnTo>
                  <a:lnTo>
                    <a:pt x="4964430" y="3185884"/>
                  </a:lnTo>
                  <a:lnTo>
                    <a:pt x="5011064" y="3139249"/>
                  </a:lnTo>
                  <a:close/>
                </a:path>
              </a:pathLst>
            </a:custGeom>
            <a:solidFill>
              <a:srgbClr val="F4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 marR="5080" algn="ctr">
              <a:lnSpc>
                <a:spcPts val="6230"/>
              </a:lnSpc>
              <a:spcBef>
                <a:spcPts val="1315"/>
              </a:spcBef>
              <a:tabLst>
                <a:tab pos="4028440" algn="l"/>
                <a:tab pos="5001260" algn="l"/>
                <a:tab pos="5449570" algn="l"/>
                <a:tab pos="5865495" algn="l"/>
              </a:tabLst>
            </a:pPr>
            <a:r>
              <a:rPr spc="655" dirty="0"/>
              <a:t>ANÁLISI</a:t>
            </a:r>
            <a:r>
              <a:rPr spc="-30" dirty="0"/>
              <a:t>S</a:t>
            </a:r>
            <a:r>
              <a:rPr dirty="0"/>
              <a:t>	</a:t>
            </a:r>
            <a:r>
              <a:rPr spc="805" dirty="0"/>
              <a:t>D</a:t>
            </a:r>
            <a:r>
              <a:rPr spc="120" dirty="0"/>
              <a:t>E</a:t>
            </a:r>
            <a:r>
              <a:rPr dirty="0"/>
              <a:t>	</a:t>
            </a:r>
            <a:r>
              <a:rPr spc="550" dirty="0"/>
              <a:t>VENTAS</a:t>
            </a:r>
            <a:r>
              <a:rPr spc="-135" dirty="0"/>
              <a:t>,</a:t>
            </a:r>
            <a:r>
              <a:rPr spc="450" dirty="0"/>
              <a:t> </a:t>
            </a:r>
            <a:r>
              <a:rPr spc="894" dirty="0"/>
              <a:t>CAMPAÑA</a:t>
            </a:r>
            <a:r>
              <a:rPr spc="210" dirty="0"/>
              <a:t>S</a:t>
            </a:r>
            <a:r>
              <a:rPr dirty="0"/>
              <a:t>	</a:t>
            </a:r>
            <a:r>
              <a:rPr spc="160" dirty="0"/>
              <a:t>Y</a:t>
            </a:r>
            <a:r>
              <a:rPr dirty="0"/>
              <a:t>	</a:t>
            </a:r>
            <a:r>
              <a:rPr spc="815" dirty="0"/>
              <a:t>RESEÑA</a:t>
            </a:r>
            <a:r>
              <a:rPr spc="130" dirty="0"/>
              <a:t>S</a:t>
            </a:r>
          </a:p>
          <a:p>
            <a:pPr algn="ctr">
              <a:lnSpc>
                <a:spcPct val="100000"/>
              </a:lnSpc>
              <a:spcBef>
                <a:spcPts val="1780"/>
              </a:spcBef>
            </a:pPr>
            <a:r>
              <a:rPr sz="3300" b="1" spc="150" dirty="0">
                <a:latin typeface="Tahoma"/>
                <a:cs typeface="Tahoma"/>
              </a:rPr>
              <a:t>GRUPO</a:t>
            </a:r>
            <a:r>
              <a:rPr sz="3300" b="1" spc="-15" dirty="0">
                <a:latin typeface="Tahoma"/>
                <a:cs typeface="Tahoma"/>
              </a:rPr>
              <a:t> </a:t>
            </a:r>
            <a:r>
              <a:rPr sz="3300" b="1" spc="-355" dirty="0">
                <a:latin typeface="Tahoma"/>
                <a:cs typeface="Tahoma"/>
              </a:rPr>
              <a:t>10</a:t>
            </a:r>
            <a:endParaRPr sz="3300">
              <a:latin typeface="Tahoma"/>
              <a:cs typeface="Tahoma"/>
            </a:endParaRPr>
          </a:p>
          <a:p>
            <a:pPr marL="2057400" marR="2049780" algn="ctr">
              <a:lnSpc>
                <a:spcPct val="117500"/>
              </a:lnSpc>
              <a:spcBef>
                <a:spcPts val="140"/>
              </a:spcBef>
            </a:pPr>
            <a:r>
              <a:rPr sz="2500" spc="100" dirty="0">
                <a:latin typeface="Lucida Sans Unicode"/>
                <a:cs typeface="Lucida Sans Unicode"/>
                <a:hlinkClick r:id="rId2"/>
              </a:rPr>
              <a:t>COBOS</a:t>
            </a:r>
            <a:r>
              <a:rPr sz="2500" spc="-100" dirty="0">
                <a:latin typeface="Lucida Sans Unicode"/>
                <a:cs typeface="Lucida Sans Unicode"/>
                <a:hlinkClick r:id="rId2"/>
              </a:rPr>
              <a:t> </a:t>
            </a:r>
            <a:r>
              <a:rPr sz="2500" spc="-120" dirty="0">
                <a:latin typeface="Lucida Sans Unicode"/>
                <a:cs typeface="Lucida Sans Unicode"/>
                <a:hlinkClick r:id="rId2"/>
              </a:rPr>
              <a:t>VALLE</a:t>
            </a:r>
            <a:r>
              <a:rPr sz="2500" spc="-100" dirty="0">
                <a:latin typeface="Lucida Sans Unicode"/>
                <a:cs typeface="Lucida Sans Unicode"/>
                <a:hlinkClick r:id="rId2"/>
              </a:rPr>
              <a:t> </a:t>
            </a:r>
            <a:r>
              <a:rPr sz="2500" spc="85" dirty="0">
                <a:latin typeface="Lucida Sans Unicode"/>
                <a:cs typeface="Lucida Sans Unicode"/>
                <a:hlinkClick r:id="rId2"/>
              </a:rPr>
              <a:t>JOSHUA</a:t>
            </a:r>
            <a:r>
              <a:rPr sz="2500" spc="-100" dirty="0">
                <a:latin typeface="Lucida Sans Unicode"/>
                <a:cs typeface="Lucida Sans Unicode"/>
                <a:hlinkClick r:id="rId2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2"/>
              </a:rPr>
              <a:t>ALEXANDER</a:t>
            </a:r>
            <a:r>
              <a:rPr sz="2500" spc="-1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  <a:hlinkClick r:id="rId3"/>
              </a:rPr>
              <a:t>GARCÍA</a:t>
            </a:r>
            <a:r>
              <a:rPr sz="2500" spc="-70" dirty="0">
                <a:latin typeface="Lucida Sans Unicode"/>
                <a:cs typeface="Lucida Sans Unicode"/>
                <a:hlinkClick r:id="rId3"/>
              </a:rPr>
              <a:t> </a:t>
            </a:r>
            <a:r>
              <a:rPr sz="2500" spc="-60" dirty="0">
                <a:latin typeface="Lucida Sans Unicode"/>
                <a:cs typeface="Lucida Sans Unicode"/>
                <a:hlinkClick r:id="rId3"/>
              </a:rPr>
              <a:t>PÉREZ</a:t>
            </a:r>
            <a:r>
              <a:rPr sz="2500" spc="-65" dirty="0">
                <a:latin typeface="Lucida Sans Unicode"/>
                <a:cs typeface="Lucida Sans Unicode"/>
                <a:hlinkClick r:id="rId3"/>
              </a:rPr>
              <a:t> </a:t>
            </a:r>
            <a:r>
              <a:rPr sz="2500" spc="-55" dirty="0">
                <a:latin typeface="Lucida Sans Unicode"/>
                <a:cs typeface="Lucida Sans Unicode"/>
                <a:hlinkClick r:id="rId3"/>
              </a:rPr>
              <a:t>GIANNY</a:t>
            </a:r>
            <a:r>
              <a:rPr sz="2500" spc="-65" dirty="0">
                <a:latin typeface="Lucida Sans Unicode"/>
                <a:cs typeface="Lucida Sans Unicode"/>
                <a:hlinkClick r:id="rId3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3"/>
              </a:rPr>
              <a:t>RONALDO</a:t>
            </a:r>
            <a:r>
              <a:rPr sz="2500" spc="-10" dirty="0">
                <a:latin typeface="Lucida Sans Unicode"/>
                <a:cs typeface="Lucida Sans Unicode"/>
              </a:rPr>
              <a:t> </a:t>
            </a:r>
            <a:r>
              <a:rPr sz="2500" spc="-35" dirty="0">
                <a:latin typeface="Lucida Sans Unicode"/>
                <a:cs typeface="Lucida Sans Unicode"/>
                <a:hlinkClick r:id="rId4"/>
              </a:rPr>
              <a:t>QUIMI</a:t>
            </a:r>
            <a:r>
              <a:rPr sz="2500" spc="-165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2500" spc="-90" dirty="0">
                <a:latin typeface="Lucida Sans Unicode"/>
                <a:cs typeface="Lucida Sans Unicode"/>
                <a:hlinkClick r:id="rId4"/>
              </a:rPr>
              <a:t>DE</a:t>
            </a:r>
            <a:r>
              <a:rPr sz="2500" spc="-120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2500" spc="-155" dirty="0">
                <a:latin typeface="Lucida Sans Unicode"/>
                <a:cs typeface="Lucida Sans Unicode"/>
                <a:hlinkClick r:id="rId4"/>
              </a:rPr>
              <a:t>LA</a:t>
            </a:r>
            <a:r>
              <a:rPr sz="2500" spc="-120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2500" dirty="0">
                <a:latin typeface="Lucida Sans Unicode"/>
                <a:cs typeface="Lucida Sans Unicode"/>
                <a:hlinkClick r:id="rId4"/>
              </a:rPr>
              <a:t>A</a:t>
            </a:r>
            <a:r>
              <a:rPr sz="2500" spc="-140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2500" spc="-20" dirty="0">
                <a:latin typeface="Lucida Sans Unicode"/>
                <a:cs typeface="Lucida Sans Unicode"/>
                <a:hlinkClick r:id="rId4"/>
              </a:rPr>
              <a:t>HERMES</a:t>
            </a:r>
            <a:r>
              <a:rPr sz="2500" spc="-135" dirty="0">
                <a:latin typeface="Lucida Sans Unicode"/>
                <a:cs typeface="Lucida Sans Unicode"/>
                <a:hlinkClick r:id="rId4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4"/>
              </a:rPr>
              <a:t>MAXIMO</a:t>
            </a:r>
            <a:r>
              <a:rPr sz="2500" spc="-10" dirty="0">
                <a:latin typeface="Lucida Sans Unicode"/>
                <a:cs typeface="Lucida Sans Unicode"/>
              </a:rPr>
              <a:t> </a:t>
            </a:r>
            <a:r>
              <a:rPr sz="2500" spc="-70" dirty="0">
                <a:latin typeface="Lucida Sans Unicode"/>
                <a:cs typeface="Lucida Sans Unicode"/>
                <a:hlinkClick r:id="rId5"/>
              </a:rPr>
              <a:t>QUINDE</a:t>
            </a:r>
            <a:r>
              <a:rPr sz="2500" spc="-110" dirty="0">
                <a:latin typeface="Lucida Sans Unicode"/>
                <a:cs typeface="Lucida Sans Unicode"/>
                <a:hlinkClick r:id="rId5"/>
              </a:rPr>
              <a:t> </a:t>
            </a:r>
            <a:r>
              <a:rPr sz="2500" spc="-25" dirty="0">
                <a:latin typeface="Lucida Sans Unicode"/>
                <a:cs typeface="Lucida Sans Unicode"/>
                <a:hlinkClick r:id="rId5"/>
              </a:rPr>
              <a:t>MONTECÉ</a:t>
            </a:r>
            <a:r>
              <a:rPr sz="2500" spc="-105" dirty="0">
                <a:latin typeface="Lucida Sans Unicode"/>
                <a:cs typeface="Lucida Sans Unicode"/>
                <a:hlinkClick r:id="rId5"/>
              </a:rPr>
              <a:t> </a:t>
            </a:r>
            <a:r>
              <a:rPr sz="2500" spc="114" dirty="0">
                <a:latin typeface="Lucida Sans Unicode"/>
                <a:cs typeface="Lucida Sans Unicode"/>
                <a:hlinkClick r:id="rId5"/>
              </a:rPr>
              <a:t>JOSUÉ</a:t>
            </a:r>
            <a:r>
              <a:rPr sz="2500" spc="-110" dirty="0">
                <a:latin typeface="Lucida Sans Unicode"/>
                <a:cs typeface="Lucida Sans Unicode"/>
                <a:hlinkClick r:id="rId5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5"/>
              </a:rPr>
              <a:t>LENIN</a:t>
            </a:r>
            <a:r>
              <a:rPr sz="2500" spc="-10" dirty="0">
                <a:latin typeface="Lucida Sans Unicode"/>
                <a:cs typeface="Lucida Sans Unicode"/>
              </a:rPr>
              <a:t> </a:t>
            </a:r>
            <a:r>
              <a:rPr sz="2500" spc="-105" dirty="0">
                <a:latin typeface="Lucida Sans Unicode"/>
                <a:cs typeface="Lucida Sans Unicode"/>
                <a:hlinkClick r:id="rId6"/>
              </a:rPr>
              <a:t>TERÁN</a:t>
            </a:r>
            <a:r>
              <a:rPr sz="2500" spc="-65" dirty="0">
                <a:latin typeface="Lucida Sans Unicode"/>
                <a:cs typeface="Lucida Sans Unicode"/>
                <a:hlinkClick r:id="rId6"/>
              </a:rPr>
              <a:t> </a:t>
            </a:r>
            <a:r>
              <a:rPr sz="2500" dirty="0">
                <a:latin typeface="Lucida Sans Unicode"/>
                <a:cs typeface="Lucida Sans Unicode"/>
                <a:hlinkClick r:id="rId6"/>
              </a:rPr>
              <a:t>GARCÍA</a:t>
            </a:r>
            <a:r>
              <a:rPr sz="2500" spc="-65" dirty="0">
                <a:latin typeface="Lucida Sans Unicode"/>
                <a:cs typeface="Lucida Sans Unicode"/>
                <a:hlinkClick r:id="rId6"/>
              </a:rPr>
              <a:t> </a:t>
            </a:r>
            <a:r>
              <a:rPr sz="2500" spc="-75" dirty="0">
                <a:latin typeface="Lucida Sans Unicode"/>
                <a:cs typeface="Lucida Sans Unicode"/>
                <a:hlinkClick r:id="rId6"/>
              </a:rPr>
              <a:t>LUIS</a:t>
            </a:r>
            <a:r>
              <a:rPr sz="2500" spc="-60" dirty="0">
                <a:latin typeface="Lucida Sans Unicode"/>
                <a:cs typeface="Lucida Sans Unicode"/>
                <a:hlinkClick r:id="rId6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6"/>
              </a:rPr>
              <a:t>MATTEO</a:t>
            </a:r>
            <a:r>
              <a:rPr sz="2500" spc="-1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  <a:hlinkClick r:id="rId7"/>
              </a:rPr>
              <a:t>VALLEJO</a:t>
            </a:r>
            <a:r>
              <a:rPr sz="2500" spc="-130" dirty="0">
                <a:latin typeface="Lucida Sans Unicode"/>
                <a:cs typeface="Lucida Sans Unicode"/>
                <a:hlinkClick r:id="rId7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7"/>
              </a:rPr>
              <a:t>VÁSQUEZ</a:t>
            </a:r>
            <a:r>
              <a:rPr sz="2500" spc="-125" dirty="0">
                <a:latin typeface="Lucida Sans Unicode"/>
                <a:cs typeface="Lucida Sans Unicode"/>
                <a:hlinkClick r:id="rId7"/>
              </a:rPr>
              <a:t> </a:t>
            </a:r>
            <a:r>
              <a:rPr sz="2500" spc="-50" dirty="0">
                <a:latin typeface="Lucida Sans Unicode"/>
                <a:cs typeface="Lucida Sans Unicode"/>
                <a:hlinkClick r:id="rId7"/>
              </a:rPr>
              <a:t>AQUILES</a:t>
            </a:r>
            <a:r>
              <a:rPr sz="2500" spc="-125" dirty="0">
                <a:latin typeface="Lucida Sans Unicode"/>
                <a:cs typeface="Lucida Sans Unicode"/>
                <a:hlinkClick r:id="rId7"/>
              </a:rPr>
              <a:t> </a:t>
            </a:r>
            <a:r>
              <a:rPr sz="2500" spc="-10" dirty="0">
                <a:latin typeface="Lucida Sans Unicode"/>
                <a:cs typeface="Lucida Sans Unicode"/>
                <a:hlinkClick r:id="rId7"/>
              </a:rPr>
              <a:t>ANDERS</a:t>
            </a:r>
            <a:endParaRPr sz="25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4725251"/>
            <a:ext cx="6252210" cy="5561965"/>
            <a:chOff x="0" y="4725251"/>
            <a:chExt cx="6252210" cy="5561965"/>
          </a:xfrm>
        </p:grpSpPr>
        <p:sp>
          <p:nvSpPr>
            <p:cNvPr id="11" name="object 11"/>
            <p:cNvSpPr/>
            <p:nvPr/>
          </p:nvSpPr>
          <p:spPr>
            <a:xfrm>
              <a:off x="0" y="5123433"/>
              <a:ext cx="6252210" cy="5163820"/>
            </a:xfrm>
            <a:custGeom>
              <a:avLst/>
              <a:gdLst/>
              <a:ahLst/>
              <a:cxnLst/>
              <a:rect l="l" t="t" r="r" b="b"/>
              <a:pathLst>
                <a:path w="6252210" h="5163820">
                  <a:moveTo>
                    <a:pt x="1878660" y="5163578"/>
                  </a:moveTo>
                  <a:lnTo>
                    <a:pt x="0" y="3284169"/>
                  </a:lnTo>
                  <a:lnTo>
                    <a:pt x="0" y="5163578"/>
                  </a:lnTo>
                  <a:lnTo>
                    <a:pt x="1878660" y="5163578"/>
                  </a:lnTo>
                  <a:close/>
                </a:path>
                <a:path w="6252210" h="5163820">
                  <a:moveTo>
                    <a:pt x="6251981" y="5163566"/>
                  </a:moveTo>
                  <a:lnTo>
                    <a:pt x="1090422" y="0"/>
                  </a:lnTo>
                  <a:lnTo>
                    <a:pt x="608101" y="482498"/>
                  </a:lnTo>
                  <a:lnTo>
                    <a:pt x="5287353" y="5163566"/>
                  </a:lnTo>
                  <a:lnTo>
                    <a:pt x="6251981" y="5163566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4725263"/>
              <a:ext cx="3096260" cy="5561965"/>
            </a:xfrm>
            <a:custGeom>
              <a:avLst/>
              <a:gdLst/>
              <a:ahLst/>
              <a:cxnLst/>
              <a:rect l="l" t="t" r="r" b="b"/>
              <a:pathLst>
                <a:path w="3096260" h="5561965">
                  <a:moveTo>
                    <a:pt x="2634208" y="5561749"/>
                  </a:moveTo>
                  <a:lnTo>
                    <a:pt x="0" y="2926499"/>
                  </a:lnTo>
                  <a:lnTo>
                    <a:pt x="0" y="4487303"/>
                  </a:lnTo>
                  <a:lnTo>
                    <a:pt x="1074013" y="5561749"/>
                  </a:lnTo>
                  <a:lnTo>
                    <a:pt x="2634208" y="5561749"/>
                  </a:lnTo>
                  <a:close/>
                </a:path>
                <a:path w="3096260" h="5561965">
                  <a:moveTo>
                    <a:pt x="3095853" y="3097060"/>
                  </a:moveTo>
                  <a:lnTo>
                    <a:pt x="0" y="0"/>
                  </a:lnTo>
                  <a:lnTo>
                    <a:pt x="0" y="1560753"/>
                  </a:lnTo>
                  <a:lnTo>
                    <a:pt x="2315756" y="3877462"/>
                  </a:lnTo>
                  <a:lnTo>
                    <a:pt x="3095853" y="3097060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832" y="6456783"/>
              <a:ext cx="4608830" cy="3830320"/>
            </a:xfrm>
            <a:custGeom>
              <a:avLst/>
              <a:gdLst/>
              <a:ahLst/>
              <a:cxnLst/>
              <a:rect l="l" t="t" r="r" b="b"/>
              <a:pathLst>
                <a:path w="4608830" h="3830320">
                  <a:moveTo>
                    <a:pt x="4608782" y="3830216"/>
                  </a:moveTo>
                  <a:lnTo>
                    <a:pt x="3048626" y="3830216"/>
                  </a:lnTo>
                  <a:lnTo>
                    <a:pt x="0" y="780400"/>
                  </a:lnTo>
                  <a:lnTo>
                    <a:pt x="780096" y="0"/>
                  </a:lnTo>
                  <a:lnTo>
                    <a:pt x="4608782" y="3830216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6617" y="7345717"/>
              <a:ext cx="4705350" cy="2941320"/>
            </a:xfrm>
            <a:custGeom>
              <a:avLst/>
              <a:gdLst/>
              <a:ahLst/>
              <a:cxnLst/>
              <a:rect l="l" t="t" r="r" b="b"/>
              <a:pathLst>
                <a:path w="4705350" h="2941320">
                  <a:moveTo>
                    <a:pt x="2986354" y="2941282"/>
                  </a:moveTo>
                  <a:lnTo>
                    <a:pt x="45072" y="0"/>
                  </a:lnTo>
                  <a:lnTo>
                    <a:pt x="0" y="45059"/>
                  </a:lnTo>
                  <a:lnTo>
                    <a:pt x="2896235" y="2941282"/>
                  </a:lnTo>
                  <a:lnTo>
                    <a:pt x="2986354" y="2941282"/>
                  </a:lnTo>
                  <a:close/>
                </a:path>
                <a:path w="4705350" h="2941320">
                  <a:moveTo>
                    <a:pt x="4705210" y="2941294"/>
                  </a:moveTo>
                  <a:lnTo>
                    <a:pt x="3408362" y="1644446"/>
                  </a:lnTo>
                  <a:lnTo>
                    <a:pt x="3363303" y="1689506"/>
                  </a:lnTo>
                  <a:lnTo>
                    <a:pt x="4615078" y="2941294"/>
                  </a:lnTo>
                  <a:lnTo>
                    <a:pt x="4705210" y="2941294"/>
                  </a:lnTo>
                  <a:close/>
                </a:path>
              </a:pathLst>
            </a:custGeom>
            <a:solidFill>
              <a:srgbClr val="F4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7159" y="897248"/>
            <a:ext cx="4752974" cy="205739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121406" y="3098044"/>
            <a:ext cx="10045065" cy="949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645025" algn="l"/>
              </a:tabLst>
            </a:pPr>
            <a:r>
              <a:rPr sz="6050" spc="665" dirty="0"/>
              <a:t>PROYECT</a:t>
            </a:r>
            <a:r>
              <a:rPr sz="6050" spc="-5" dirty="0"/>
              <a:t>O</a:t>
            </a:r>
            <a:r>
              <a:rPr sz="6050" dirty="0"/>
              <a:t>	</a:t>
            </a:r>
            <a:r>
              <a:rPr sz="6050" spc="665" dirty="0"/>
              <a:t>INTEGRADO</a:t>
            </a:r>
            <a:r>
              <a:rPr sz="6050" spc="-5" dirty="0"/>
              <a:t>R</a:t>
            </a:r>
            <a:endParaRPr sz="6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-1" y="0"/>
            <a:ext cx="18288534" cy="3835400"/>
            <a:chOff x="-1" y="0"/>
            <a:chExt cx="18288534" cy="3835400"/>
          </a:xfrm>
        </p:grpSpPr>
        <p:sp>
          <p:nvSpPr>
            <p:cNvPr id="5" name="object 5"/>
            <p:cNvSpPr/>
            <p:nvPr/>
          </p:nvSpPr>
          <p:spPr>
            <a:xfrm>
              <a:off x="-1" y="0"/>
              <a:ext cx="18288000" cy="727710"/>
            </a:xfrm>
            <a:custGeom>
              <a:avLst/>
              <a:gdLst/>
              <a:ahLst/>
              <a:cxnLst/>
              <a:rect l="l" t="t" r="r" b="b"/>
              <a:pathLst>
                <a:path w="18288000" h="727710">
                  <a:moveTo>
                    <a:pt x="0" y="727384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727384"/>
                  </a:lnTo>
                  <a:lnTo>
                    <a:pt x="0" y="727384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29328" y="0"/>
              <a:ext cx="1259205" cy="1259205"/>
            </a:xfrm>
            <a:custGeom>
              <a:avLst/>
              <a:gdLst/>
              <a:ahLst/>
              <a:cxnLst/>
              <a:rect l="l" t="t" r="r" b="b"/>
              <a:pathLst>
                <a:path w="1259205" h="1259205">
                  <a:moveTo>
                    <a:pt x="1258670" y="1258670"/>
                  </a:moveTo>
                  <a:lnTo>
                    <a:pt x="1258670" y="0"/>
                  </a:lnTo>
                  <a:lnTo>
                    <a:pt x="0" y="0"/>
                  </a:lnTo>
                  <a:lnTo>
                    <a:pt x="1258670" y="1258670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142750" y="0"/>
              <a:ext cx="5083175" cy="3835400"/>
            </a:xfrm>
            <a:custGeom>
              <a:avLst/>
              <a:gdLst/>
              <a:ahLst/>
              <a:cxnLst/>
              <a:rect l="l" t="t" r="r" b="b"/>
              <a:pathLst>
                <a:path w="5083175" h="3835400">
                  <a:moveTo>
                    <a:pt x="5082978" y="2586634"/>
                  </a:moveTo>
                  <a:lnTo>
                    <a:pt x="2496343" y="0"/>
                  </a:lnTo>
                  <a:lnTo>
                    <a:pt x="0" y="0"/>
                  </a:lnTo>
                  <a:lnTo>
                    <a:pt x="3834905" y="3834905"/>
                  </a:lnTo>
                  <a:lnTo>
                    <a:pt x="4896110" y="2773503"/>
                  </a:lnTo>
                  <a:lnTo>
                    <a:pt x="4938465" y="2731541"/>
                  </a:lnTo>
                  <a:lnTo>
                    <a:pt x="5082978" y="2586634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903115" y="0"/>
              <a:ext cx="2385060" cy="3366770"/>
            </a:xfrm>
            <a:custGeom>
              <a:avLst/>
              <a:gdLst/>
              <a:ahLst/>
              <a:cxnLst/>
              <a:rect l="l" t="t" r="r" b="b"/>
              <a:pathLst>
                <a:path w="2385059" h="3366770">
                  <a:moveTo>
                    <a:pt x="2384884" y="3366376"/>
                  </a:moveTo>
                  <a:lnTo>
                    <a:pt x="2384884" y="0"/>
                  </a:lnTo>
                  <a:lnTo>
                    <a:pt x="981688" y="0"/>
                  </a:lnTo>
                  <a:lnTo>
                    <a:pt x="0" y="981688"/>
                  </a:lnTo>
                  <a:lnTo>
                    <a:pt x="2384884" y="3366376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436038" y="11"/>
              <a:ext cx="2852420" cy="3023235"/>
            </a:xfrm>
            <a:custGeom>
              <a:avLst/>
              <a:gdLst/>
              <a:ahLst/>
              <a:cxnLst/>
              <a:rect l="l" t="t" r="r" b="b"/>
              <a:pathLst>
                <a:path w="2852419" h="3023235">
                  <a:moveTo>
                    <a:pt x="2851950" y="2938221"/>
                  </a:moveTo>
                  <a:lnTo>
                    <a:pt x="42354" y="128524"/>
                  </a:lnTo>
                  <a:lnTo>
                    <a:pt x="0" y="170675"/>
                  </a:lnTo>
                  <a:lnTo>
                    <a:pt x="2851950" y="3022638"/>
                  </a:lnTo>
                  <a:lnTo>
                    <a:pt x="2851950" y="2938221"/>
                  </a:lnTo>
                  <a:close/>
                </a:path>
                <a:path w="2852419" h="3023235">
                  <a:moveTo>
                    <a:pt x="2851950" y="511352"/>
                  </a:moveTo>
                  <a:lnTo>
                    <a:pt x="2340648" y="0"/>
                  </a:lnTo>
                  <a:lnTo>
                    <a:pt x="2256244" y="0"/>
                  </a:lnTo>
                  <a:lnTo>
                    <a:pt x="2851950" y="595706"/>
                  </a:lnTo>
                  <a:lnTo>
                    <a:pt x="2851950" y="511352"/>
                  </a:lnTo>
                  <a:close/>
                </a:path>
              </a:pathLst>
            </a:custGeom>
            <a:solidFill>
              <a:srgbClr val="F4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241B6C96-F70F-51A6-31F4-B87BFB7D64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152557"/>
              </p:ext>
            </p:extLst>
          </p:nvPr>
        </p:nvGraphicFramePr>
        <p:xfrm>
          <a:off x="444560" y="1249458"/>
          <a:ext cx="16700440" cy="8389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17C960D-0521-39D9-C1BA-80B282AF84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7968105"/>
              </p:ext>
            </p:extLst>
          </p:nvPr>
        </p:nvGraphicFramePr>
        <p:xfrm>
          <a:off x="228600" y="800100"/>
          <a:ext cx="17754600" cy="899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B32E2630-DDE3-6E52-EF39-D72B95385D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584977"/>
              </p:ext>
            </p:extLst>
          </p:nvPr>
        </p:nvGraphicFramePr>
        <p:xfrm>
          <a:off x="533400" y="1104900"/>
          <a:ext cx="16604967" cy="8577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6130" y="3485590"/>
            <a:ext cx="11760835" cy="5333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0"/>
              </a:spcBef>
            </a:pPr>
            <a:r>
              <a:rPr lang="es-MX"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L</a:t>
            </a:r>
            <a:r>
              <a:rPr sz="3200" dirty="0" err="1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os</a:t>
            </a:r>
            <a:r>
              <a:rPr sz="3200" spc="13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métodos</a:t>
            </a:r>
            <a:r>
              <a:rPr sz="3200" spc="12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de</a:t>
            </a:r>
            <a:r>
              <a:rPr sz="3200" spc="13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 err="1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pago</a:t>
            </a:r>
            <a:r>
              <a:rPr sz="3200" spc="12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 err="1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digitales</a:t>
            </a:r>
            <a:r>
              <a:rPr lang="es-MX"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0122" y="5113081"/>
            <a:ext cx="11760835" cy="5329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0"/>
              </a:spcBef>
            </a:pP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Las</a:t>
            </a:r>
            <a:r>
              <a:rPr sz="3200" spc="13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campañas</a:t>
            </a:r>
            <a:r>
              <a:rPr sz="3200" spc="14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de</a:t>
            </a:r>
            <a:r>
              <a:rPr sz="3200" spc="14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marketing</a:t>
            </a:r>
            <a:r>
              <a:rPr sz="3200" spc="14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digital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6783" y="6651563"/>
            <a:ext cx="11760835" cy="5333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5900"/>
              </a:lnSpc>
              <a:spcBef>
                <a:spcPts val="90"/>
              </a:spcBef>
            </a:pPr>
            <a:r>
              <a:rPr lang="es-MX"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S</a:t>
            </a:r>
            <a:r>
              <a:rPr sz="3200" dirty="0" err="1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atisfacción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del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cliente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(ratings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altos)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lang="es-MX"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versus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los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picos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de</a:t>
            </a:r>
            <a:r>
              <a:rPr sz="3200" spc="165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 </a:t>
            </a:r>
            <a:r>
              <a:rPr sz="3200" spc="-10" dirty="0" err="1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ventas</a:t>
            </a:r>
            <a:r>
              <a:rPr lang="es-MX" sz="3200" spc="-10" dirty="0">
                <a:solidFill>
                  <a:srgbClr val="252161"/>
                </a:solidFill>
                <a:latin typeface="Cambria" panose="02040503050406030204" pitchFamily="18" charset="0"/>
                <a:ea typeface="Cambria" panose="02040503050406030204" pitchFamily="18" charset="0"/>
                <a:cs typeface="Microsoft Sans Serif"/>
              </a:rPr>
              <a:t>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3999" rIns="0" bIns="0" rtlCol="0">
            <a:spAutoFit/>
          </a:bodyPr>
          <a:lstStyle/>
          <a:p>
            <a:pPr marL="605790">
              <a:lnSpc>
                <a:spcPct val="100000"/>
              </a:lnSpc>
              <a:spcBef>
                <a:spcPts val="114"/>
              </a:spcBef>
            </a:pPr>
            <a:r>
              <a:rPr spc="994" dirty="0"/>
              <a:t>CONCLUSIONE</a:t>
            </a:r>
            <a:r>
              <a:rPr spc="90" dirty="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22374" y="3464563"/>
            <a:ext cx="528320" cy="518795"/>
          </a:xfrm>
          <a:prstGeom prst="rect">
            <a:avLst/>
          </a:prstGeom>
          <a:solidFill>
            <a:srgbClr val="00AEEF"/>
          </a:solidFill>
        </p:spPr>
        <p:txBody>
          <a:bodyPr vert="horz" wrap="square" lIns="0" tIns="101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900" spc="-50" dirty="0">
                <a:solidFill>
                  <a:srgbClr val="252161"/>
                </a:solidFill>
                <a:latin typeface="Cambria"/>
                <a:cs typeface="Cambria"/>
              </a:rPr>
              <a:t>1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2374" y="5143500"/>
            <a:ext cx="528320" cy="518795"/>
          </a:xfrm>
          <a:prstGeom prst="rect">
            <a:avLst/>
          </a:prstGeom>
          <a:solidFill>
            <a:srgbClr val="00AEEF"/>
          </a:solidFill>
        </p:spPr>
        <p:txBody>
          <a:bodyPr vert="horz" wrap="square" lIns="0" tIns="101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900" spc="-50" dirty="0">
                <a:solidFill>
                  <a:srgbClr val="252161"/>
                </a:solidFill>
                <a:latin typeface="Cambria"/>
                <a:cs typeface="Cambria"/>
              </a:rPr>
              <a:t>2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62494" y="6750564"/>
            <a:ext cx="528320" cy="518795"/>
          </a:xfrm>
          <a:prstGeom prst="rect">
            <a:avLst/>
          </a:prstGeom>
          <a:solidFill>
            <a:srgbClr val="00AEEF"/>
          </a:solidFill>
        </p:spPr>
        <p:txBody>
          <a:bodyPr vert="horz" wrap="square" lIns="0" tIns="1016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900" spc="-50" dirty="0">
                <a:solidFill>
                  <a:srgbClr val="252161"/>
                </a:solidFill>
                <a:latin typeface="Cambria"/>
                <a:cs typeface="Cambria"/>
              </a:rPr>
              <a:t>3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082487" y="0"/>
            <a:ext cx="4205605" cy="10287000"/>
            <a:chOff x="14082487" y="0"/>
            <a:chExt cx="4205605" cy="10287000"/>
          </a:xfrm>
        </p:grpSpPr>
        <p:sp>
          <p:nvSpPr>
            <p:cNvPr id="10" name="object 10"/>
            <p:cNvSpPr/>
            <p:nvPr/>
          </p:nvSpPr>
          <p:spPr>
            <a:xfrm>
              <a:off x="16362877" y="0"/>
              <a:ext cx="1925320" cy="8414385"/>
            </a:xfrm>
            <a:custGeom>
              <a:avLst/>
              <a:gdLst/>
              <a:ahLst/>
              <a:cxnLst/>
              <a:rect l="l" t="t" r="r" b="b"/>
              <a:pathLst>
                <a:path w="1925319" h="8414385">
                  <a:moveTo>
                    <a:pt x="1925124" y="8414114"/>
                  </a:moveTo>
                  <a:lnTo>
                    <a:pt x="0" y="8414114"/>
                  </a:lnTo>
                  <a:lnTo>
                    <a:pt x="0" y="0"/>
                  </a:lnTo>
                  <a:lnTo>
                    <a:pt x="1925124" y="0"/>
                  </a:lnTo>
                  <a:lnTo>
                    <a:pt x="1925124" y="8414114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683277" y="7682277"/>
              <a:ext cx="2604770" cy="2604770"/>
            </a:xfrm>
            <a:custGeom>
              <a:avLst/>
              <a:gdLst/>
              <a:ahLst/>
              <a:cxnLst/>
              <a:rect l="l" t="t" r="r" b="b"/>
              <a:pathLst>
                <a:path w="2604769" h="2604770">
                  <a:moveTo>
                    <a:pt x="0" y="2604722"/>
                  </a:moveTo>
                  <a:lnTo>
                    <a:pt x="1498588" y="2604722"/>
                  </a:lnTo>
                  <a:lnTo>
                    <a:pt x="2604722" y="1498587"/>
                  </a:lnTo>
                  <a:lnTo>
                    <a:pt x="2604722" y="0"/>
                  </a:lnTo>
                  <a:lnTo>
                    <a:pt x="0" y="2604722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822205" y="4730522"/>
              <a:ext cx="3465829" cy="4413885"/>
            </a:xfrm>
            <a:custGeom>
              <a:avLst/>
              <a:gdLst/>
              <a:ahLst/>
              <a:cxnLst/>
              <a:rect l="l" t="t" r="r" b="b"/>
              <a:pathLst>
                <a:path w="3465830" h="4413884">
                  <a:moveTo>
                    <a:pt x="948028" y="4413673"/>
                  </a:moveTo>
                  <a:lnTo>
                    <a:pt x="3465794" y="1895908"/>
                  </a:lnTo>
                  <a:lnTo>
                    <a:pt x="3465794" y="0"/>
                  </a:lnTo>
                  <a:lnTo>
                    <a:pt x="0" y="3465794"/>
                  </a:lnTo>
                  <a:lnTo>
                    <a:pt x="806107" y="4271752"/>
                  </a:lnTo>
                  <a:lnTo>
                    <a:pt x="837976" y="4303919"/>
                  </a:lnTo>
                  <a:lnTo>
                    <a:pt x="948028" y="4413673"/>
                  </a:lnTo>
                  <a:close/>
                </a:path>
              </a:pathLst>
            </a:custGeom>
            <a:solidFill>
              <a:srgbClr val="1B74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82530" y="7380232"/>
              <a:ext cx="4205605" cy="2907030"/>
            </a:xfrm>
            <a:custGeom>
              <a:avLst/>
              <a:gdLst/>
              <a:ahLst/>
              <a:cxnLst/>
              <a:rect l="l" t="t" r="r" b="b"/>
              <a:pathLst>
                <a:path w="4205605" h="2907029">
                  <a:moveTo>
                    <a:pt x="0" y="2906768"/>
                  </a:moveTo>
                  <a:lnTo>
                    <a:pt x="2616800" y="2906768"/>
                  </a:lnTo>
                  <a:lnTo>
                    <a:pt x="4205469" y="1317982"/>
                  </a:lnTo>
                  <a:lnTo>
                    <a:pt x="4205469" y="1298850"/>
                  </a:lnTo>
                  <a:lnTo>
                    <a:pt x="2906618" y="0"/>
                  </a:lnTo>
                  <a:lnTo>
                    <a:pt x="0" y="2906768"/>
                  </a:lnTo>
                  <a:close/>
                </a:path>
              </a:pathLst>
            </a:custGeom>
            <a:solidFill>
              <a:srgbClr val="252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93542" y="8185778"/>
              <a:ext cx="1195070" cy="1226820"/>
            </a:xfrm>
            <a:custGeom>
              <a:avLst/>
              <a:gdLst/>
              <a:ahLst/>
              <a:cxnLst/>
              <a:rect l="l" t="t" r="r" b="b"/>
              <a:pathLst>
                <a:path w="1195069" h="1226820">
                  <a:moveTo>
                    <a:pt x="31869" y="1226624"/>
                  </a:moveTo>
                  <a:lnTo>
                    <a:pt x="1194457" y="64159"/>
                  </a:lnTo>
                  <a:lnTo>
                    <a:pt x="1194457" y="0"/>
                  </a:lnTo>
                  <a:lnTo>
                    <a:pt x="0" y="1194457"/>
                  </a:lnTo>
                  <a:lnTo>
                    <a:pt x="31869" y="1226624"/>
                  </a:lnTo>
                  <a:close/>
                </a:path>
              </a:pathLst>
            </a:custGeom>
            <a:solidFill>
              <a:srgbClr val="F4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082487" y="9195276"/>
              <a:ext cx="1613535" cy="1092200"/>
            </a:xfrm>
            <a:custGeom>
              <a:avLst/>
              <a:gdLst/>
              <a:ahLst/>
              <a:cxnLst/>
              <a:rect l="l" t="t" r="r" b="b"/>
              <a:pathLst>
                <a:path w="1613534" h="1092200">
                  <a:moveTo>
                    <a:pt x="0" y="1091723"/>
                  </a:moveTo>
                  <a:lnTo>
                    <a:pt x="1042635" y="1091723"/>
                  </a:lnTo>
                  <a:lnTo>
                    <a:pt x="1612988" y="521370"/>
                  </a:lnTo>
                  <a:lnTo>
                    <a:pt x="1091617" y="0"/>
                  </a:lnTo>
                  <a:lnTo>
                    <a:pt x="0" y="1091723"/>
                  </a:lnTo>
                  <a:close/>
                </a:path>
              </a:pathLst>
            </a:custGeom>
            <a:solidFill>
              <a:srgbClr val="00AE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43588" y="7025503"/>
              <a:ext cx="3293745" cy="3261995"/>
            </a:xfrm>
            <a:custGeom>
              <a:avLst/>
              <a:gdLst/>
              <a:ahLst/>
              <a:cxnLst/>
              <a:rect l="l" t="t" r="r" b="b"/>
              <a:pathLst>
                <a:path w="3293744" h="3261995">
                  <a:moveTo>
                    <a:pt x="0" y="3261496"/>
                  </a:moveTo>
                  <a:lnTo>
                    <a:pt x="64184" y="3261496"/>
                  </a:lnTo>
                  <a:lnTo>
                    <a:pt x="3293514" y="32166"/>
                  </a:lnTo>
                  <a:lnTo>
                    <a:pt x="3261496" y="0"/>
                  </a:lnTo>
                  <a:lnTo>
                    <a:pt x="0" y="3261496"/>
                  </a:lnTo>
                  <a:close/>
                </a:path>
              </a:pathLst>
            </a:custGeom>
            <a:solidFill>
              <a:srgbClr val="F4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2710" y="466953"/>
            <a:ext cx="4752974" cy="2057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5216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98</Words>
  <Application>Microsoft Office PowerPoint</Application>
  <PresentationFormat>Personalizado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Calibri</vt:lpstr>
      <vt:lpstr>Cambria</vt:lpstr>
      <vt:lpstr>Lucida Sans Unicode</vt:lpstr>
      <vt:lpstr>Tahoma</vt:lpstr>
      <vt:lpstr>Trebuchet MS</vt:lpstr>
      <vt:lpstr>Office Theme</vt:lpstr>
      <vt:lpstr>PROYECTO INTEGRADOR</vt:lpstr>
      <vt:lpstr>Presentación de PowerPoint</vt:lpstr>
      <vt:lpstr>Presentación de PowerPoint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Propuesta de Negocios Geométrico Sencillo Azul</dc:title>
  <dc:creator>Matteo Terán</dc:creator>
  <cp:keywords>DAGwpeeFGWk,BAEQlAiW6ps,0</cp:keywords>
  <cp:lastModifiedBy>Cliente CONTROL-PC</cp:lastModifiedBy>
  <cp:revision>8</cp:revision>
  <dcterms:created xsi:type="dcterms:W3CDTF">2025-08-21T03:12:21Z</dcterms:created>
  <dcterms:modified xsi:type="dcterms:W3CDTF">2025-08-23T15:36:03Z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2025-08-21T00:00:00Z</vt:filetime>
  </property>
  <property fmtid="{D5CDD505-2E9C-101B-9397-08002B2CF9AE}" pid="5" name="Producer">
    <vt:lpwstr>Canva</vt:lpwstr>
  </property>
</Properties>
</file>